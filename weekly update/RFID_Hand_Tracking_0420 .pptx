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250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F4E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RFID-Based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Hand-Trajectory Tracking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Tag-Instrumented Desktop Surface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251960"/>
            <a:ext cx="548640" cy="27432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time-aware, confidence-gated dual-branch deep-learning pipeline that reconstructs hand motion from 8 passive RFID tags observed by 2 antennas, using a camera-ArUco ground truth.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Warren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r>
              <a:rPr lang="zh-CN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Fiona</a:t>
            </a:r>
            <a:r>
              <a:rPr lang="zh-CN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r>
              <a:rPr lang="zh-CN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track a hand with RFID?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IMUs and specialized gloves dominate hand tracking — but every one of them demands line-of-sight, wearables, or power-hungry hardware.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RFID tags are the opposite extreme: battery-free, ~$0.10 each, invisible under a surface, and readable through occlusion. If we can recover where the hand is from the RF signals alone, we unlock a low-cost, unobtrusive interaction layer for any flat surface — desks, tabletops, shelves.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the signal is brutal. Phase wraps every 2048 units, RSSI drifts with multipath, and a tag reply is irregular — we may get no fresh read for seconds. A naive model will happily collapse to the mean.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4297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914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71232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sampling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71232" y="19933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arrive asynchronously; dt varies. Per-tag fill rate ranges from &lt; 1% to ~99% across channels.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017520"/>
            <a:ext cx="4297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3017520"/>
            <a:ext cx="914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71232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is ambiguous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1232" y="35478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phase is a sawtooth mod 2048. Small motions look like giant jumps without wrap handling.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572000"/>
            <a:ext cx="4297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315200" y="4572000"/>
            <a:ext cx="914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571232" y="4736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&amp; ghost channels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71232" y="51023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tag/antenna pairs never report. Others echo stale data — training must know the difference.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EXPERIMENTAL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tags, 2 antennas, one ArUco ground truth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layout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passive UHF RFID tags adhered to a desktop in a fixed grid pattern.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reader antennas (ant1, ant4) positioned above/alongside the surface; both query the same 8-tag population.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read: RSSI (dB) and phase (raw integer, 2048-period) at host timestamp.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camera + ArUco markers on the wrist stream WRIST_x / WRIST_y in table-plane coordinates — the regression target.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collected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 · 435 synchronized samples · ~125 s per session of free-form hand motion on the tabletop.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antenna–tag channel pairs total (2 × 8); 1 pair excluded upstream due to consistently malformed phase.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RSSI-fill rate per channel ≈ 72% — confirming that missing reads are the rule, not the exception.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1417320"/>
            <a:ext cx="4663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452360" y="1527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schematic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90888" y="189280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482328" y="1984248"/>
            <a:ext cx="146304" cy="146304"/>
          </a:xfrm>
          <a:prstGeom prst="ellipse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58952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camera → ArUco GT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2651760"/>
            <a:ext cx="3291840" cy="2926080"/>
          </a:xfrm>
          <a:prstGeom prst="rect">
            <a:avLst/>
          </a:prstGeom>
          <a:solidFill>
            <a:srgbClr val="ECF3F8"/>
          </a:solidFill>
          <a:ln w="9525">
            <a:solidFill>
              <a:srgbClr val="5F7C9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909560" y="5303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8388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00684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82980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65276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18388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00684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82980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65276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479792" y="3419856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269480" y="36667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411712" y="444398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201400" y="4690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5760720"/>
            <a:ext cx="201168" cy="146304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754112" y="5696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  (×8)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0" y="5797296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326880" y="5696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03336" y="3383280"/>
            <a:ext cx="493776" cy="0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897112" y="3236976"/>
            <a:ext cx="493776" cy="438912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390888" y="3675888"/>
            <a:ext cx="427939" cy="585216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818827" y="4261104"/>
            <a:ext cx="395021" cy="0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213848" y="4114800"/>
            <a:ext cx="329184" cy="0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57616" y="3337560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851392" y="3191256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345168" y="3630168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9773107" y="4215384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168128" y="4069080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497312" y="3483864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CCF8EAAA-7E27-301F-E6C9-9B5433F49CFB}"/>
              </a:ext>
            </a:extLst>
          </p:cNvPr>
          <p:cNvSpPr/>
          <p:nvPr/>
        </p:nvSpPr>
        <p:spPr>
          <a:xfrm>
            <a:off x="7223760" y="1417320"/>
            <a:ext cx="4663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B148A458-5C24-F12F-DBE0-9CF5D70C89CB}"/>
              </a:ext>
            </a:extLst>
          </p:cNvPr>
          <p:cNvSpPr/>
          <p:nvPr/>
        </p:nvSpPr>
        <p:spPr>
          <a:xfrm>
            <a:off x="7452360" y="1527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schematic</a:t>
            </a:r>
            <a:endParaRPr lang="en-US" sz="100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671FE7D7-CC40-4B47-2250-FE094543954B}"/>
              </a:ext>
            </a:extLst>
          </p:cNvPr>
          <p:cNvSpPr/>
          <p:nvPr/>
        </p:nvSpPr>
        <p:spPr>
          <a:xfrm>
            <a:off x="9390888" y="189280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14B92402-F249-B706-4687-E1AA7F775B30}"/>
              </a:ext>
            </a:extLst>
          </p:cNvPr>
          <p:cNvSpPr/>
          <p:nvPr/>
        </p:nvSpPr>
        <p:spPr>
          <a:xfrm>
            <a:off x="9482328" y="1984248"/>
            <a:ext cx="146304" cy="146304"/>
          </a:xfrm>
          <a:prstGeom prst="ellipse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48F52C96-5C86-A035-8E47-3C5672963A21}"/>
              </a:ext>
            </a:extLst>
          </p:cNvPr>
          <p:cNvSpPr/>
          <p:nvPr/>
        </p:nvSpPr>
        <p:spPr>
          <a:xfrm>
            <a:off x="758952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camera → ArUco GT</a:t>
            </a:r>
            <a:endParaRPr lang="en-US" sz="10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2E4186BC-1B17-201B-0F5B-70D3DFBCC3DB}"/>
              </a:ext>
            </a:extLst>
          </p:cNvPr>
          <p:cNvSpPr/>
          <p:nvPr/>
        </p:nvSpPr>
        <p:spPr>
          <a:xfrm>
            <a:off x="7909560" y="2651760"/>
            <a:ext cx="3291840" cy="2926080"/>
          </a:xfrm>
          <a:prstGeom prst="rect">
            <a:avLst/>
          </a:prstGeom>
          <a:solidFill>
            <a:srgbClr val="ECF3F8"/>
          </a:solidFill>
          <a:ln w="9525">
            <a:solidFill>
              <a:srgbClr val="5F7C9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BFAE45B5-011D-450D-4666-1B713F0441E1}"/>
              </a:ext>
            </a:extLst>
          </p:cNvPr>
          <p:cNvSpPr/>
          <p:nvPr/>
        </p:nvSpPr>
        <p:spPr>
          <a:xfrm>
            <a:off x="7909560" y="5303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</a:t>
            </a:r>
            <a:endParaRPr lang="en-US" sz="900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DBE8C5D4-09D9-BEAC-2FAC-9457202AB1EB}"/>
              </a:ext>
            </a:extLst>
          </p:cNvPr>
          <p:cNvSpPr/>
          <p:nvPr/>
        </p:nvSpPr>
        <p:spPr>
          <a:xfrm>
            <a:off x="818388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F4035BDD-C42F-FB28-0099-85575C55E0AA}"/>
              </a:ext>
            </a:extLst>
          </p:cNvPr>
          <p:cNvSpPr/>
          <p:nvPr/>
        </p:nvSpPr>
        <p:spPr>
          <a:xfrm>
            <a:off x="941832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F27035C3-791E-2F00-8CA5-FF6DE23EE92C}"/>
              </a:ext>
            </a:extLst>
          </p:cNvPr>
          <p:cNvSpPr/>
          <p:nvPr/>
        </p:nvSpPr>
        <p:spPr>
          <a:xfrm>
            <a:off x="8759952" y="3981195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CAF944E9-228F-DEFF-6CBD-2AD1CA4B7760}"/>
              </a:ext>
            </a:extLst>
          </p:cNvPr>
          <p:cNvSpPr/>
          <p:nvPr/>
        </p:nvSpPr>
        <p:spPr>
          <a:xfrm>
            <a:off x="10652760" y="306324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25F2792A-848A-8CF5-710C-9AA2DD57E91F}"/>
              </a:ext>
            </a:extLst>
          </p:cNvPr>
          <p:cNvSpPr/>
          <p:nvPr/>
        </p:nvSpPr>
        <p:spPr>
          <a:xfrm>
            <a:off x="818388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1A7593C0-2F9D-5843-5FD4-A01AC28F5AEA}"/>
              </a:ext>
            </a:extLst>
          </p:cNvPr>
          <p:cNvSpPr/>
          <p:nvPr/>
        </p:nvSpPr>
        <p:spPr>
          <a:xfrm>
            <a:off x="10076688" y="3984244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05839907-8B4F-788F-1B0E-7895C045A8A2}"/>
              </a:ext>
            </a:extLst>
          </p:cNvPr>
          <p:cNvSpPr/>
          <p:nvPr/>
        </p:nvSpPr>
        <p:spPr>
          <a:xfrm>
            <a:off x="941832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F632AA18-EE5F-0872-CD0E-430DD93687A6}"/>
              </a:ext>
            </a:extLst>
          </p:cNvPr>
          <p:cNvSpPr/>
          <p:nvPr/>
        </p:nvSpPr>
        <p:spPr>
          <a:xfrm>
            <a:off x="10652760" y="4983480"/>
            <a:ext cx="274320" cy="182880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072EF323-0762-54F6-A202-84B754AF3ECB}"/>
              </a:ext>
            </a:extLst>
          </p:cNvPr>
          <p:cNvSpPr/>
          <p:nvPr/>
        </p:nvSpPr>
        <p:spPr>
          <a:xfrm>
            <a:off x="9006840" y="1856232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8B00CC27-E708-9E48-CB19-8A46C19E419A}"/>
              </a:ext>
            </a:extLst>
          </p:cNvPr>
          <p:cNvSpPr/>
          <p:nvPr/>
        </p:nvSpPr>
        <p:spPr>
          <a:xfrm>
            <a:off x="8796528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ant1</a:t>
            </a:r>
            <a:endParaRPr lang="en-US" sz="1000" dirty="0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3491D3FE-C893-21CA-E429-1FB60A940938}"/>
              </a:ext>
            </a:extLst>
          </p:cNvPr>
          <p:cNvSpPr/>
          <p:nvPr/>
        </p:nvSpPr>
        <p:spPr>
          <a:xfrm>
            <a:off x="9884664" y="1851660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BCE8AD00-4737-464E-F1F7-740BAE925BB7}"/>
              </a:ext>
            </a:extLst>
          </p:cNvPr>
          <p:cNvSpPr/>
          <p:nvPr/>
        </p:nvSpPr>
        <p:spPr>
          <a:xfrm>
            <a:off x="9674352" y="20985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</a:t>
            </a:r>
            <a:r>
              <a:rPr lang="en-US" altLang="zh-CN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17526831-2EDD-7EEF-E82F-F483DA1BA5BC}"/>
              </a:ext>
            </a:extLst>
          </p:cNvPr>
          <p:cNvSpPr/>
          <p:nvPr/>
        </p:nvSpPr>
        <p:spPr>
          <a:xfrm>
            <a:off x="7498080" y="5760720"/>
            <a:ext cx="201168" cy="146304"/>
          </a:xfrm>
          <a:prstGeom prst="rect">
            <a:avLst/>
          </a:prstGeom>
          <a:solidFill>
            <a:srgbClr val="F4E3B2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B9C29950-2549-F0BE-8D5F-7B663C19B1D6}"/>
              </a:ext>
            </a:extLst>
          </p:cNvPr>
          <p:cNvSpPr/>
          <p:nvPr/>
        </p:nvSpPr>
        <p:spPr>
          <a:xfrm>
            <a:off x="7754112" y="5696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  (×8)</a:t>
            </a:r>
            <a:endParaRPr lang="en-US" sz="1000" dirty="0"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5B00DB2D-6053-B5C4-D7CC-61FC0701DB05}"/>
              </a:ext>
            </a:extLst>
          </p:cNvPr>
          <p:cNvSpPr/>
          <p:nvPr/>
        </p:nvSpPr>
        <p:spPr>
          <a:xfrm>
            <a:off x="9144000" y="5797296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4486C0A5-9FF1-82D8-62C0-67EB8A963F0C}"/>
              </a:ext>
            </a:extLst>
          </p:cNvPr>
          <p:cNvSpPr/>
          <p:nvPr/>
        </p:nvSpPr>
        <p:spPr>
          <a:xfrm>
            <a:off x="9326880" y="5696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000" dirty="0"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5F037F12-42C5-A8D5-58AC-AA6CFA72A970}"/>
              </a:ext>
            </a:extLst>
          </p:cNvPr>
          <p:cNvSpPr/>
          <p:nvPr/>
        </p:nvSpPr>
        <p:spPr>
          <a:xfrm>
            <a:off x="8403336" y="3236976"/>
            <a:ext cx="493776" cy="0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BF1C00B0-8E81-89EC-93D2-CCAF06710088}"/>
              </a:ext>
            </a:extLst>
          </p:cNvPr>
          <p:cNvSpPr/>
          <p:nvPr/>
        </p:nvSpPr>
        <p:spPr>
          <a:xfrm>
            <a:off x="8897112" y="3236976"/>
            <a:ext cx="493776" cy="438912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60EB64B5-75DE-0AB4-6888-C74D06EDB93C}"/>
              </a:ext>
            </a:extLst>
          </p:cNvPr>
          <p:cNvSpPr/>
          <p:nvPr/>
        </p:nvSpPr>
        <p:spPr>
          <a:xfrm>
            <a:off x="9390888" y="3675888"/>
            <a:ext cx="427939" cy="585216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32">
            <a:extLst>
              <a:ext uri="{FF2B5EF4-FFF2-40B4-BE49-F238E27FC236}">
                <a16:creationId xmlns:a16="http://schemas.microsoft.com/office/drawing/2014/main" id="{1298868B-6479-0037-0FA2-C22ABFB92A3F}"/>
              </a:ext>
            </a:extLst>
          </p:cNvPr>
          <p:cNvSpPr/>
          <p:nvPr/>
        </p:nvSpPr>
        <p:spPr>
          <a:xfrm>
            <a:off x="9818827" y="4261104"/>
            <a:ext cx="395021" cy="0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DBFCCF72-F0E9-6A6A-4BF5-39538752EEA6}"/>
              </a:ext>
            </a:extLst>
          </p:cNvPr>
          <p:cNvSpPr/>
          <p:nvPr/>
        </p:nvSpPr>
        <p:spPr>
          <a:xfrm flipV="1">
            <a:off x="10259568" y="3575304"/>
            <a:ext cx="283464" cy="683260"/>
          </a:xfrm>
          <a:prstGeom prst="line">
            <a:avLst/>
          </a:prstGeom>
          <a:noFill/>
          <a:ln w="1905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C9FD781A-0C0F-624E-24F5-BDBFED0CB5A0}"/>
              </a:ext>
            </a:extLst>
          </p:cNvPr>
          <p:cNvSpPr/>
          <p:nvPr/>
        </p:nvSpPr>
        <p:spPr>
          <a:xfrm>
            <a:off x="8357616" y="3191256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35">
            <a:extLst>
              <a:ext uri="{FF2B5EF4-FFF2-40B4-BE49-F238E27FC236}">
                <a16:creationId xmlns:a16="http://schemas.microsoft.com/office/drawing/2014/main" id="{3138C804-5717-861E-EFE1-783D1FDFAE34}"/>
              </a:ext>
            </a:extLst>
          </p:cNvPr>
          <p:cNvSpPr/>
          <p:nvPr/>
        </p:nvSpPr>
        <p:spPr>
          <a:xfrm>
            <a:off x="8851392" y="3191256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4D30A395-1564-CCE4-14F0-CFF2063B6A59}"/>
              </a:ext>
            </a:extLst>
          </p:cNvPr>
          <p:cNvSpPr/>
          <p:nvPr/>
        </p:nvSpPr>
        <p:spPr>
          <a:xfrm>
            <a:off x="9345168" y="3630168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37">
            <a:extLst>
              <a:ext uri="{FF2B5EF4-FFF2-40B4-BE49-F238E27FC236}">
                <a16:creationId xmlns:a16="http://schemas.microsoft.com/office/drawing/2014/main" id="{1EFB0C55-A23C-4747-4F4C-4C621C1773F3}"/>
              </a:ext>
            </a:extLst>
          </p:cNvPr>
          <p:cNvSpPr/>
          <p:nvPr/>
        </p:nvSpPr>
        <p:spPr>
          <a:xfrm>
            <a:off x="9773107" y="4215384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38">
            <a:extLst>
              <a:ext uri="{FF2B5EF4-FFF2-40B4-BE49-F238E27FC236}">
                <a16:creationId xmlns:a16="http://schemas.microsoft.com/office/drawing/2014/main" id="{98E9DC10-7558-A94F-CC2D-3F43BA423A51}"/>
              </a:ext>
            </a:extLst>
          </p:cNvPr>
          <p:cNvSpPr/>
          <p:nvPr/>
        </p:nvSpPr>
        <p:spPr>
          <a:xfrm>
            <a:off x="10184392" y="4212844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39">
            <a:extLst>
              <a:ext uri="{FF2B5EF4-FFF2-40B4-BE49-F238E27FC236}">
                <a16:creationId xmlns:a16="http://schemas.microsoft.com/office/drawing/2014/main" id="{82DFB417-DDFB-A13C-E937-BB6253D85881}"/>
              </a:ext>
            </a:extLst>
          </p:cNvPr>
          <p:cNvSpPr/>
          <p:nvPr/>
        </p:nvSpPr>
        <p:spPr>
          <a:xfrm>
            <a:off x="10515016" y="3483864"/>
            <a:ext cx="91440" cy="91440"/>
          </a:xfrm>
          <a:prstGeom prst="ellipse">
            <a:avLst/>
          </a:prstGeom>
          <a:solidFill>
            <a:srgbClr val="D43F3F"/>
          </a:solidFill>
          <a:ln w="12700">
            <a:solidFill>
              <a:srgbClr val="D43F3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PREPARATION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reads to 14-feature channel tensors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× tag channels fed to the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channel per timestep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137160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78240" y="1417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7782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of the raw phase integer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6631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66319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953512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&amp; masked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229743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RSSI_z  (z-scored per ch.)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sin(φ), cos(φ)  on 2π·φ/2048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m_rssi, m_phase  real-read mask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8990" y="2788920"/>
            <a:ext cx="26631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348990" y="2788920"/>
            <a:ext cx="266319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531870" y="2953512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31870" y="3383280"/>
            <a:ext cx="229743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imp_rssi, imp_phase  flags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forward-fill last valid read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exposes 'stale' vs 'fresh'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9340" y="2788920"/>
            <a:ext cx="26631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49340" y="2788920"/>
            <a:ext cx="266319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32220" y="2953512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awareness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2220" y="3383280"/>
            <a:ext cx="229743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tslv  time-since-last-valid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exp(−λ·tslv)  confidence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death ⇒ attn mask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49690" y="2788920"/>
            <a:ext cx="26631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949690" y="2788920"/>
            <a:ext cx="266319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132570" y="2953512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32570" y="3383280"/>
            <a:ext cx="229743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r_dot  ΔRSSI / Δt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p_dot  wrapped Δφ / Δt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unwrap_vel  unwrapped φ-vel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of T = 16 consecutive samples; only kept if WRIST(x,y) is valid on every step and at least one live channel is present.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Time-aware, confidence-gated, dual-branch tracker</a:t>
            </a:r>
            <a:endParaRPr lang="en-US" sz="3000" dirty="0"/>
          </a:p>
        </p:txBody>
      </p:sp>
      <p:pic>
        <p:nvPicPr>
          <p:cNvPr id="4" name="Image 0" descr="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13816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371600"/>
            <a:ext cx="2834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869680" y="1371600"/>
            <a:ext cx="73152" cy="1600200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9070848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Transformer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70848" y="18745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16 antenna–tag channels attend to each other per timestep; dead channels are masked out of attention.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869680" y="3063240"/>
            <a:ext cx="2834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869680" y="3063240"/>
            <a:ext cx="73152" cy="1600200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9070848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GRU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70848" y="35661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the pooled channel context with global dt features → hidden state hₜ carrying short-term motion memory.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869680" y="4754880"/>
            <a:ext cx="2834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8869680" y="4754880"/>
            <a:ext cx="73152" cy="1600200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070848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Dual-branch fusion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070848" y="52578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α·p_abs + (1−α)·p_dyn. α is gated by confidence &amp; real-read rate — low evidence ⇒ trust physics integration of v.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losses: position, velocity, dynamics, smoothness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ℒ_pos</a:t>
            </a:r>
            <a:endParaRPr lang="en-US" sz="2200" dirty="0"/>
          </a:p>
        </p:txBody>
      </p:sp>
      <p:pic>
        <p:nvPicPr>
          <p:cNvPr id="7" name="Image 0" descr="eq_l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21992"/>
            <a:ext cx="2286000" cy="1439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anchor. Penalizes every predicted point against the ArUco target.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1732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566160" y="1618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ℒ_vel</a:t>
            </a:r>
            <a:endParaRPr lang="en-US" sz="2200" dirty="0"/>
          </a:p>
        </p:txBody>
      </p:sp>
      <p:pic>
        <p:nvPicPr>
          <p:cNvPr id="12" name="Image 1" descr="eq_l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221992"/>
            <a:ext cx="2286000" cy="3437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velocity head to match the numerical derivative of ground truth.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2651760" cy="73152"/>
          </a:xfrm>
          <a:prstGeom prst="rect">
            <a:avLst/>
          </a:prstGeom>
          <a:solidFill>
            <a:srgbClr val="57B8B5"/>
          </a:solidFill>
          <a:ln w="12700">
            <a:solidFill>
              <a:srgbClr val="57B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73152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ℒ_dyn</a:t>
            </a:r>
            <a:endParaRPr lang="en-US" sz="2200" dirty="0"/>
          </a:p>
        </p:txBody>
      </p:sp>
      <p:pic>
        <p:nvPicPr>
          <p:cNvPr id="17" name="Image 2" descr="eq_ldy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99432"/>
            <a:ext cx="2286000" cy="1651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the two branches: integrated velocity must match emitted position.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383280" y="379476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3383280" y="3794760"/>
            <a:ext cx="2651760" cy="73152"/>
          </a:xfrm>
          <a:prstGeom prst="rect">
            <a:avLst/>
          </a:prstGeom>
          <a:solidFill>
            <a:srgbClr val="5F7C99"/>
          </a:solidFill>
          <a:ln w="12700">
            <a:solidFill>
              <a:srgbClr val="5F7C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356616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ℒ_smooth</a:t>
            </a:r>
            <a:endParaRPr lang="en-US" sz="2200" dirty="0"/>
          </a:p>
        </p:txBody>
      </p:sp>
      <p:pic>
        <p:nvPicPr>
          <p:cNvPr id="22" name="Image 3" descr="eq_lsmoo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599432"/>
            <a:ext cx="2286000" cy="23615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66160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Damps high-frequency jitter in the velocity head.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09360" y="141732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6309360" y="1417320"/>
            <a:ext cx="5486400" cy="73152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6492240" y="15819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objective</a:t>
            </a:r>
            <a:endParaRPr lang="en-US" sz="1100" dirty="0"/>
          </a:p>
        </p:txBody>
      </p:sp>
      <p:pic>
        <p:nvPicPr>
          <p:cNvPr id="27" name="Image 4" descr="eq_to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057400"/>
            <a:ext cx="5120640" cy="29094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9224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dominates; the other three act as physics and smoothness regularizers.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3383280"/>
            <a:ext cx="548640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3"/>
          <p:cNvSpPr/>
          <p:nvPr/>
        </p:nvSpPr>
        <p:spPr>
          <a:xfrm>
            <a:off x="6492240" y="3547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886200"/>
          <a:ext cx="5120640" cy="181051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lr = 1e-3, weight-decay = 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epochs · batch 16 · grad-clip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samples (~1.6–3 s of hand motion)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— 168 train / 42 val 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antenna-tag pairs (1 dropped upstream)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d_model = 32, 4 heads · GRU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4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— QUANTITATIVE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Temporal-split evaluation — the honest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88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RMSE  L2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(units = normalized tabletop)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788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73152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MAE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L2 per 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788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73152" cy="1234440"/>
          </a:xfrm>
          <a:prstGeom prst="rect">
            <a:avLst/>
          </a:prstGeom>
          <a:solidFill>
            <a:srgbClr val="57B8B5"/>
          </a:solidFill>
          <a:ln w="12700">
            <a:solidFill>
              <a:srgbClr val="57B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58368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vel. RMSE  L2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vx, vy combined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26880" y="1371600"/>
            <a:ext cx="2788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326880" y="1371600"/>
            <a:ext cx="73152" cy="1234440"/>
          </a:xfrm>
          <a:prstGeom prst="rect">
            <a:avLst/>
          </a:prstGeom>
          <a:solidFill>
            <a:srgbClr val="5F7C99"/>
          </a:solidFill>
          <a:ln w="12700">
            <a:solidFill>
              <a:srgbClr val="5F7C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50976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2.68 %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50976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hit-rate @ 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0.02 (≈ tag spacing / 25)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834640"/>
            <a:ext cx="65836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2834640"/>
            <a:ext cx="65836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31520" y="29535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temporal-split 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3273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val windows · 672 points · window T = 16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11880"/>
          <a:ext cx="6217920" cy="15087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/ combined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per-window mean L2 (µ ± σ)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 ± 0.033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final-step L2 (µ ± σ)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 ± 0.092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406640" y="2834640"/>
            <a:ext cx="44805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7406640" y="2834640"/>
            <a:ext cx="4480560" cy="73152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7589520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report temporal-split</a:t>
            </a:r>
            <a:endParaRPr lang="en-US" sz="1500" dirty="0"/>
          </a:p>
        </p:txBody>
      </p:sp>
      <p:graphicFrame>
        <p:nvGraphicFramePr>
          <p:cNvPr id="3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3337560"/>
          <a:ext cx="4114800" cy="822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merged_random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F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7589520" y="4434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Random-window splits place sample k in train and k+1 in val — and consecutive windows share 15 of 16 timesteps. Temporal split holds out a full tail trajectory and is the only fair measure of generalization.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48640" y="5486400"/>
            <a:ext cx="11338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1"/>
          <p:cNvSpPr/>
          <p:nvPr/>
        </p:nvSpPr>
        <p:spPr>
          <a:xfrm>
            <a:off x="548640" y="5486400"/>
            <a:ext cx="91440" cy="868680"/>
          </a:xfrm>
          <a:prstGeom prst="rect">
            <a:avLst/>
          </a:prstGeom>
          <a:solidFill>
            <a:srgbClr val="57B8B5"/>
          </a:solidFill>
          <a:ln w="12700">
            <a:solidFill>
              <a:srgbClr val="57B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777240" y="55961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check — </a:t>
            </a: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WRIST(x, y) lives in a normalized tabletop frame with usable range ≈ ±0.25 along x and ±0.15 along y. An L2 of 0.131 is therefore </a:t>
            </a: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~26 % of the half-width</a:t>
            </a: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model recovers rough location, not precise tracking. The 2.68 % hit-rate at ε = 0.02 shows fine-grained localization has not emerged yet.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 — QUALITATIVE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 vs predicted trajectory — best 9 val windows</a:t>
            </a:r>
            <a:endParaRPr lang="en-US" sz="3000" dirty="0"/>
          </a:p>
        </p:txBody>
      </p:sp>
      <p:pic>
        <p:nvPicPr>
          <p:cNvPr id="4" name="Image 0" descr="fig_trajector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25880"/>
            <a:ext cx="768096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371600"/>
            <a:ext cx="33832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412480" y="1371600"/>
            <a:ext cx="3383280" cy="73152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5953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see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95360" y="187452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panels show temporal-split validation — the </a:t>
            </a: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— ArUco ground truth.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— model prediction.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clusters near the workspace centroid; GT traces much larger loops (RMSE 0.131).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shape is partially recovered (see val #31) but amplitude is heavily shrunk.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i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regress-to-the-mean signature driven by a tiny dataset (435 samples, 42 val windows).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RESULTS — PER-STEP DRILL-DOWN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x(t), y(t) and velocity on val window #31</a:t>
            </a:r>
            <a:endParaRPr lang="en-US" sz="3000" dirty="0"/>
          </a:p>
        </p:txBody>
      </p:sp>
      <p:pic>
        <p:nvPicPr>
          <p:cNvPr id="4" name="Image 0" descr="fig_xy_vs_ti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5760720" cy="3840480"/>
          </a:xfrm>
          <a:prstGeom prst="rect">
            <a:avLst/>
          </a:prstGeom>
        </p:spPr>
      </p:pic>
      <p:pic>
        <p:nvPicPr>
          <p:cNvPr id="5" name="Image 1" descr="fig_veloc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417320"/>
            <a:ext cx="576072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486400"/>
            <a:ext cx="5760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640080" y="5577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tracks the trend but flattens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5897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follows the rising-then-falling GT, y loses the second descent. The prediction is biased toward the workspace centroid.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09360" y="5486400"/>
            <a:ext cx="5760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6492240" y="5577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 head under-estimates magnitude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5897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vₓ, v_y oscillate tightly around 0 while GT reaches ±0.07. The tanh·vel_scale = 0.08 bound is not the cause — the model simply has not learned the mapping.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DIAGNOSIS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limiting the model right now?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778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Dataset is tiny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sessions, ~435 samples, ≈84 valid windows after split — far below what a transformer + GRU with ~100k params needs to generalize. The model memorizes the mean hand location.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5778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5778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2940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Calibration gap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per tag/antenna pair has an unknown integer offset. The 2048-period wrap is modeled, but per-channel bias is left for the network to discover from 435 points.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5778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577840" cy="73152"/>
          </a:xfrm>
          <a:prstGeom prst="rect">
            <a:avLst/>
          </a:prstGeom>
          <a:solidFill>
            <a:srgbClr val="57B8B5"/>
          </a:solidFill>
          <a:ln w="12700">
            <a:solidFill>
              <a:srgbClr val="57B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Velocity signal is weak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position loss dominates early training, ℒ_vel gradient is crowded out. vel-head stays near the init and the dynamics branch becomes a trivial 'carry-over' of the previous position.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886200"/>
            <a:ext cx="55778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00800" y="3886200"/>
            <a:ext cx="5577840" cy="73152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Split-policy amplifies the issue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5720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~210 windows, every partition is fragile. A random split gives an artificially rosy 0.00039 val loss by leaking adjacent frames; temporal split exposes the true 0.131 RMSE. Either way, 42 val windows is too few to steer the model.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FUTURE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paths to push L2 below 0.03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10× more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20+ sessions across different users and hand speeds. 435 samples is a prototype — real training needs thousands.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Per-channel phase calibration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5661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static phase offset per tag/antenna pair with the hand removed, subtract it before feeding the network, and let the model learn only motion-induced phase.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5820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57B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458200" y="2788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Physics-anchored decoder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58200" y="35661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free MLP position head with a triangulation-style layer that reads tag positions and constrains p̂ to lie on the surface — narrows the solution space.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levers: multi-loss rebalancing (schedule ℒ_vel ↑ after ℒ_pos plateaus); data augmentation on the phase channel; knowledge distillation from an EKF/particle-filter baseline.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2D Hand-Trajectory Tracking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E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dual-branch tracker is the right scaffold.</a:t>
            </a:r>
            <a:endParaRPr lang="en-US" sz="3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 is data, not architecture.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411480" cy="36576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end-to-end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through 14-feature channels to a 2-branch model trained with 4 losses.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3931920"/>
            <a:ext cx="411480" cy="36576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2628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Shape, not amplitude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45720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captures the curvature of hand motion but shrinks toward the workspace center.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931920"/>
            <a:ext cx="411480" cy="36576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2104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 is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45720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data + per-channel phase calibration should cut mean-L2 by 2-3× with no model changes.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6172200"/>
            <a:ext cx="548640" cy="27432"/>
          </a:xfrm>
          <a:prstGeom prst="rect">
            <a:avLst/>
          </a:prstGeom>
          <a:solidFill>
            <a:srgbClr val="F4E3B2"/>
          </a:solidFill>
          <a:ln w="12700">
            <a:solidFill>
              <a:srgbClr val="F4E3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6263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4E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 · 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1721</Words>
  <Application>Microsoft Macintosh PowerPoint</Application>
  <PresentationFormat>宽屏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RFID-Based 2D Hand-Trajectory Tracking</dc:title>
  <dc:subject>PptxGenJS Presentation</dc:subject>
  <dc:creator>Project Report</dc:creator>
  <cp:lastModifiedBy>Fiona Yu</cp:lastModifiedBy>
  <cp:revision>3</cp:revision>
  <dcterms:created xsi:type="dcterms:W3CDTF">2026-04-20T10:05:44Z</dcterms:created>
  <dcterms:modified xsi:type="dcterms:W3CDTF">2026-04-20T10:48:49Z</dcterms:modified>
</cp:coreProperties>
</file>